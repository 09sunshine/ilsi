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C"/>
    <a:srgbClr val="FEFEFE"/>
    <a:srgbClr val="F5F4FA"/>
    <a:srgbClr val="FDFDFF"/>
    <a:srgbClr val="0C4E9B"/>
    <a:srgbClr val="CCE6FD"/>
    <a:srgbClr val="CBE7FF"/>
    <a:srgbClr val="0461C1"/>
    <a:srgbClr val="9BBB59"/>
    <a:srgbClr val="39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ndfonline.com/doi/full/10.1080/10095020.2022.2085633" TargetMode="External"/><Relationship Id="rId13" Type="http://schemas.openxmlformats.org/officeDocument/2006/relationships/hyperlink" Target="https://bhuvan.nrsc.gov.in/home/index.php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sciencedirect.com/science/article/pii/S0924271619301108" TargetMode="External"/><Relationship Id="rId12" Type="http://schemas.openxmlformats.org/officeDocument/2006/relationships/hyperlink" Target="https://opencv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document/d/1Avbmi2Dw670D5sXvqwGErpQf1WmcUTgk/edit?usp=sharing&amp;ouid=105038949314377610918&amp;rtpof=true&amp;sd=true" TargetMode="External"/><Relationship Id="rId11" Type="http://schemas.openxmlformats.org/officeDocument/2006/relationships/hyperlink" Target="https://huggingface.co/" TargetMode="External"/><Relationship Id="rId5" Type="http://schemas.openxmlformats.org/officeDocument/2006/relationships/image" Target="../media/image14.png"/><Relationship Id="rId15" Type="http://schemas.openxmlformats.org/officeDocument/2006/relationships/hyperlink" Target="https://sdgs.un.org/goals" TargetMode="External"/><Relationship Id="rId10" Type="http://schemas.openxmlformats.org/officeDocument/2006/relationships/hyperlink" Target="https://voxel51.com/blog/image-similarity-search-unlocking-pattern-detection-in-visual-data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mdpi.com/2072-4292/18/15/2573" TargetMode="External"/><Relationship Id="rId14" Type="http://schemas.openxmlformats.org/officeDocument/2006/relationships/hyperlink" Target="https://developers.google.com/earth-engine/datase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23920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769567"/>
            <a:ext cx="5924550" cy="4459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b="0" i="0" dirty="0">
                <a:solidFill>
                  <a:srgbClr val="212529"/>
                </a:solidFill>
                <a:effectLst/>
                <a:latin typeface="montserratregular"/>
              </a:rPr>
              <a:t> </a:t>
            </a:r>
            <a:r>
              <a:rPr lang="en-US" sz="2000" b="1" i="0" dirty="0">
                <a:solidFill>
                  <a:srgbClr val="212529"/>
                </a:solidFill>
                <a:effectLst/>
                <a:latin typeface="montserratregular"/>
              </a:rPr>
              <a:t>26227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/>
              <a:t>Semantic Retrieval and Multi-Temporal Change Analysis of Satellite imagery.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Neural Ninjas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E4BB3-7644-8415-8B30-BA1038FD9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7" y="86457"/>
            <a:ext cx="1062738" cy="8500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27382"/>
            <a:ext cx="12191999" cy="3306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26807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389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751" y="162915"/>
            <a:ext cx="1330159" cy="672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Neural Ninjas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FA8912-187C-A714-EF12-DEC48C7E6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63" y="129000"/>
            <a:ext cx="841000" cy="6726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26C9E9-2443-3CA9-546A-B70FCF2D1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85189"/>
            <a:ext cx="3855603" cy="539615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CC8837-B27D-CE5A-FA39-ED265049F8DB}"/>
              </a:ext>
            </a:extLst>
          </p:cNvPr>
          <p:cNvCxnSpPr>
            <a:cxnSpLocks/>
          </p:cNvCxnSpPr>
          <p:nvPr/>
        </p:nvCxnSpPr>
        <p:spPr>
          <a:xfrm>
            <a:off x="3855603" y="4502989"/>
            <a:ext cx="817433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56876AFC-E835-B858-78EC-42C343D95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770" y="1576965"/>
            <a:ext cx="5402555" cy="2879984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DE27E4DD-89E7-B4F8-0A99-4B1DDAF9BFC1}"/>
              </a:ext>
            </a:extLst>
          </p:cNvPr>
          <p:cNvGrpSpPr/>
          <p:nvPr/>
        </p:nvGrpSpPr>
        <p:grpSpPr>
          <a:xfrm>
            <a:off x="3924769" y="1115299"/>
            <a:ext cx="5855316" cy="461665"/>
            <a:chOff x="3924769" y="1415987"/>
            <a:chExt cx="5855316" cy="46166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E1A1E4-FF3D-A6BA-3059-B8C7E028BA17}"/>
                </a:ext>
              </a:extLst>
            </p:cNvPr>
            <p:cNvSpPr txBox="1"/>
            <p:nvPr/>
          </p:nvSpPr>
          <p:spPr>
            <a:xfrm>
              <a:off x="3924769" y="1415987"/>
              <a:ext cx="23872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00B050"/>
                  </a:solidFill>
                  <a:latin typeface="Times New Roman" panose="02020603050405020304" pitchFamily="18" charset="0"/>
                  <a:ea typeface="ＭＳ Ｐゴシック" pitchFamily="1" charset="-128"/>
                  <a:cs typeface="Times New Roman" panose="02020603050405020304" pitchFamily="18" charset="0"/>
                </a:rPr>
                <a:t>Our Solution -</a:t>
              </a:r>
              <a:endParaRPr lang="en-IN" sz="2400" dirty="0">
                <a:solidFill>
                  <a:srgbClr val="00B05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588BFFE-6DE9-2C10-430F-46DEC22C46D3}"/>
                </a:ext>
              </a:extLst>
            </p:cNvPr>
            <p:cNvSpPr txBox="1"/>
            <p:nvPr/>
          </p:nvSpPr>
          <p:spPr>
            <a:xfrm>
              <a:off x="5983498" y="1415987"/>
              <a:ext cx="37965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SATRA 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(Click to see demo)</a:t>
              </a:r>
              <a:endParaRPr lang="en-IN" sz="1400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6BF2F0A-B7F9-8E12-E7D9-2D00A1B09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9692" y="1131329"/>
            <a:ext cx="2772307" cy="313986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53518EF-47CF-7DA3-1FAD-29852B9503FB}"/>
              </a:ext>
            </a:extLst>
          </p:cNvPr>
          <p:cNvSpPr txBox="1"/>
          <p:nvPr/>
        </p:nvSpPr>
        <p:spPr>
          <a:xfrm>
            <a:off x="3924769" y="4477345"/>
            <a:ext cx="13396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Features</a:t>
            </a:r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2CAAB69-BD78-0AF5-40EE-BB132F427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9697" y="4555041"/>
            <a:ext cx="5264456" cy="18280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734A206-9837-1228-4E77-16F348BFF47B}"/>
              </a:ext>
            </a:extLst>
          </p:cNvPr>
          <p:cNvSpPr txBox="1"/>
          <p:nvPr/>
        </p:nvSpPr>
        <p:spPr>
          <a:xfrm>
            <a:off x="4074584" y="4959407"/>
            <a:ext cx="252462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Semantic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Change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False-Alarm Suppression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Analyst in the loop</a:t>
            </a:r>
            <a:endParaRPr lang="en-IN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6B04C-004F-7B3E-74E0-4E89C54E75B2}"/>
              </a:ext>
            </a:extLst>
          </p:cNvPr>
          <p:cNvSpPr txBox="1"/>
          <p:nvPr/>
        </p:nvSpPr>
        <p:spPr>
          <a:xfrm>
            <a:off x="10588207" y="4221238"/>
            <a:ext cx="893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IN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B82FA53-7680-4F27-0469-5E9131807E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82" y="98957"/>
            <a:ext cx="1695491" cy="800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8E3C3-1539-61CC-A8A0-851149A88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7382"/>
            <a:ext cx="12191999" cy="3306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237F72-2C80-93BA-866D-541B37B1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5389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EE782888-BF24-6DD3-1722-742D8BC93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51A90-07B3-AD62-AFD1-B75343BC9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63" y="129000"/>
            <a:ext cx="841000" cy="672666"/>
          </a:xfrm>
          <a:prstGeom prst="rect">
            <a:avLst/>
          </a:prstGeom>
        </p:spPr>
      </p:pic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8F87049D-E6AF-C3F6-40EB-04804E8A2D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751" y="162915"/>
            <a:ext cx="1330159" cy="672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Neural Ninjas</a:t>
            </a:r>
            <a:endParaRPr lang="en-IN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DAB250-4DC2-8D85-2DBE-5D4ABDC4B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31" y="3008349"/>
            <a:ext cx="7744082" cy="1647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C0100C-DA5B-2DC2-B0BD-FA1300396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231" y="4702143"/>
            <a:ext cx="11605868" cy="17153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96A340-B13B-A34D-32D0-02C15F458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313" y="1255976"/>
            <a:ext cx="3924623" cy="33043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1DC526-28FF-707C-CD83-720724DE5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064" y="1267509"/>
            <a:ext cx="7943249" cy="1705763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474B577-7C5C-CCE4-1B4C-A035DCCCF24D}"/>
              </a:ext>
            </a:extLst>
          </p:cNvPr>
          <p:cNvSpPr txBox="1">
            <a:spLocks/>
          </p:cNvSpPr>
          <p:nvPr/>
        </p:nvSpPr>
        <p:spPr bwMode="auto">
          <a:xfrm>
            <a:off x="3640454" y="801666"/>
            <a:ext cx="4911090" cy="454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How SATRA Thinks?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463F6DE8-91BD-8BE2-5779-61E1B94CCB8D}"/>
              </a:ext>
            </a:extLst>
          </p:cNvPr>
          <p:cNvSpPr txBox="1">
            <a:spLocks/>
          </p:cNvSpPr>
          <p:nvPr/>
        </p:nvSpPr>
        <p:spPr bwMode="auto">
          <a:xfrm>
            <a:off x="271932" y="5973321"/>
            <a:ext cx="1407796" cy="454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AC3A077-B981-14F9-57CD-7D546D768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82" y="98957"/>
            <a:ext cx="1695491" cy="800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891994-0D72-4333-D3CB-D398EE01A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7382"/>
            <a:ext cx="12191999" cy="3306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A786E2-B0A9-1D13-7127-7936D6DD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5389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9F18DD6B-387B-A1B8-AB70-938A8CC4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34415-E949-2390-D5FD-56F5D71B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63" y="129000"/>
            <a:ext cx="841000" cy="672666"/>
          </a:xfrm>
          <a:prstGeom prst="rect">
            <a:avLst/>
          </a:prstGeom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C6F2BF1A-8E63-588C-79D6-5B9A6D69D2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751" y="162915"/>
            <a:ext cx="1330159" cy="672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Neural Ninjas</a:t>
            </a:r>
            <a:endParaRPr lang="en-IN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0944B1-4F6E-BEB3-DAF9-26743D39E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99" y="1012206"/>
            <a:ext cx="11952075" cy="54540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EAF0AD-72FC-F37D-4657-155AD4A6EA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82" y="98957"/>
            <a:ext cx="1695491" cy="80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315E0-F3C5-40B0-E6AF-EAABE1238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7382"/>
            <a:ext cx="12191999" cy="3306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C6E2EA0-6A22-DCA3-5812-C1BFC3E7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5389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9B80B71-FD87-DDD9-D7AC-4FB42E68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99E82-294F-D7B7-3EFB-99BF80164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63" y="129000"/>
            <a:ext cx="841000" cy="672666"/>
          </a:xfrm>
          <a:prstGeom prst="rect">
            <a:avLst/>
          </a:prstGeom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24BAD131-55AC-FB9C-FE71-84E80C0755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751" y="162915"/>
            <a:ext cx="1330159" cy="672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Neural Ninjas</a:t>
            </a:r>
            <a:endParaRPr lang="en-IN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2CD933-7CA3-0773-C3DC-1778985CE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990623"/>
            <a:ext cx="11867872" cy="54907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72A740-87B5-1C6D-D547-D08AB42E2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82" y="98957"/>
            <a:ext cx="1695491" cy="80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82" y="98957"/>
            <a:ext cx="1695491" cy="8005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CBB2D3-AFFF-BD1A-77F4-E6C203F86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7382"/>
            <a:ext cx="12191999" cy="33061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69638EF-9DBF-C811-CFC0-AD19BD83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5389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CC08356-7CAA-6905-1575-9AC3D2A1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5A732-D6DD-7A80-F35F-5A8BFDD85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663" y="129000"/>
            <a:ext cx="841000" cy="672666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D6D3F7A4-4B00-9762-7A34-C3982C4DCB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0751" y="162915"/>
            <a:ext cx="1330159" cy="672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Neural Ninjas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73000F-FCA5-9F21-5010-1909DBE04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35580"/>
            <a:ext cx="12093673" cy="564576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756ED3-9101-E1A6-AE81-13E060714825}"/>
              </a:ext>
            </a:extLst>
          </p:cNvPr>
          <p:cNvSpPr/>
          <p:nvPr/>
        </p:nvSpPr>
        <p:spPr>
          <a:xfrm>
            <a:off x="8312660" y="1819321"/>
            <a:ext cx="921828" cy="212462"/>
          </a:xfrm>
          <a:prstGeom prst="roundRect">
            <a:avLst/>
          </a:prstGeom>
          <a:solidFill>
            <a:srgbClr val="0461C1"/>
          </a:solidFill>
          <a:ln>
            <a:solidFill>
              <a:srgbClr val="0461C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Click Here</a:t>
            </a:r>
            <a:endParaRPr lang="en-IN" sz="1200" dirty="0"/>
          </a:p>
        </p:txBody>
      </p:sp>
      <p:sp>
        <p:nvSpPr>
          <p:cNvPr id="18" name="Rectangle: Rounded Corners 17">
            <a:hlinkClick r:id="rId6"/>
            <a:extLst>
              <a:ext uri="{FF2B5EF4-FFF2-40B4-BE49-F238E27FC236}">
                <a16:creationId xmlns:a16="http://schemas.microsoft.com/office/drawing/2014/main" id="{E6F34691-D9F8-FBE0-20A2-854DC7758D56}"/>
              </a:ext>
            </a:extLst>
          </p:cNvPr>
          <p:cNvSpPr/>
          <p:nvPr/>
        </p:nvSpPr>
        <p:spPr>
          <a:xfrm>
            <a:off x="10701055" y="1819321"/>
            <a:ext cx="921828" cy="212462"/>
          </a:xfrm>
          <a:prstGeom prst="roundRect">
            <a:avLst/>
          </a:prstGeom>
          <a:solidFill>
            <a:srgbClr val="0461C1"/>
          </a:solidFill>
          <a:ln>
            <a:solidFill>
              <a:srgbClr val="0461C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Click Here</a:t>
            </a:r>
            <a:endParaRPr lang="en-IN" sz="1200" dirty="0"/>
          </a:p>
        </p:txBody>
      </p:sp>
      <p:sp>
        <p:nvSpPr>
          <p:cNvPr id="22" name="Rectangle: Rounded Corners 21">
            <a:hlinkClick r:id="rId7"/>
            <a:extLst>
              <a:ext uri="{FF2B5EF4-FFF2-40B4-BE49-F238E27FC236}">
                <a16:creationId xmlns:a16="http://schemas.microsoft.com/office/drawing/2014/main" id="{89DB64C6-CD41-9BE0-2FD6-71DDFC2B62B6}"/>
              </a:ext>
            </a:extLst>
          </p:cNvPr>
          <p:cNvSpPr/>
          <p:nvPr/>
        </p:nvSpPr>
        <p:spPr>
          <a:xfrm>
            <a:off x="8479438" y="2860670"/>
            <a:ext cx="793150" cy="170661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26" name="Rectangle: Rounded Corners 25">
            <a:hlinkClick r:id="rId8"/>
            <a:extLst>
              <a:ext uri="{FF2B5EF4-FFF2-40B4-BE49-F238E27FC236}">
                <a16:creationId xmlns:a16="http://schemas.microsoft.com/office/drawing/2014/main" id="{0ECC9B03-E1BD-3E31-FB92-44FAE4DB521E}"/>
              </a:ext>
            </a:extLst>
          </p:cNvPr>
          <p:cNvSpPr/>
          <p:nvPr/>
        </p:nvSpPr>
        <p:spPr>
          <a:xfrm>
            <a:off x="10857673" y="2860670"/>
            <a:ext cx="793150" cy="170661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29" name="Rectangle: Rounded Corners 28">
            <a:hlinkClick r:id="rId9"/>
            <a:extLst>
              <a:ext uri="{FF2B5EF4-FFF2-40B4-BE49-F238E27FC236}">
                <a16:creationId xmlns:a16="http://schemas.microsoft.com/office/drawing/2014/main" id="{3534EE46-97A2-A53D-134D-3E639818EE94}"/>
              </a:ext>
            </a:extLst>
          </p:cNvPr>
          <p:cNvSpPr/>
          <p:nvPr/>
        </p:nvSpPr>
        <p:spPr>
          <a:xfrm>
            <a:off x="10918633" y="3519777"/>
            <a:ext cx="793150" cy="170661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31" name="Rectangle: Rounded Corners 30">
            <a:hlinkClick r:id="rId10"/>
            <a:extLst>
              <a:ext uri="{FF2B5EF4-FFF2-40B4-BE49-F238E27FC236}">
                <a16:creationId xmlns:a16="http://schemas.microsoft.com/office/drawing/2014/main" id="{BDD11CD6-3324-0323-2B4C-8C402BD708F8}"/>
              </a:ext>
            </a:extLst>
          </p:cNvPr>
          <p:cNvSpPr/>
          <p:nvPr/>
        </p:nvSpPr>
        <p:spPr>
          <a:xfrm>
            <a:off x="8479438" y="3519777"/>
            <a:ext cx="793150" cy="170661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33" name="Rectangle: Rounded Corners 32">
            <a:hlinkClick r:id="rId11"/>
            <a:extLst>
              <a:ext uri="{FF2B5EF4-FFF2-40B4-BE49-F238E27FC236}">
                <a16:creationId xmlns:a16="http://schemas.microsoft.com/office/drawing/2014/main" id="{2E507ED8-F418-2E77-664E-EAD1E0125C6E}"/>
              </a:ext>
            </a:extLst>
          </p:cNvPr>
          <p:cNvSpPr/>
          <p:nvPr/>
        </p:nvSpPr>
        <p:spPr>
          <a:xfrm>
            <a:off x="8773574" y="4619205"/>
            <a:ext cx="793150" cy="170661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35" name="Rectangle: Rounded Corners 34">
            <a:hlinkClick r:id="rId12"/>
            <a:extLst>
              <a:ext uri="{FF2B5EF4-FFF2-40B4-BE49-F238E27FC236}">
                <a16:creationId xmlns:a16="http://schemas.microsoft.com/office/drawing/2014/main" id="{D8768FF4-4FC2-8BA2-7D63-1F359F495830}"/>
              </a:ext>
            </a:extLst>
          </p:cNvPr>
          <p:cNvSpPr/>
          <p:nvPr/>
        </p:nvSpPr>
        <p:spPr>
          <a:xfrm>
            <a:off x="11245927" y="4605450"/>
            <a:ext cx="793150" cy="170661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37" name="Rectangle: Rounded Corners 36">
            <a:hlinkClick r:id="rId13"/>
            <a:extLst>
              <a:ext uri="{FF2B5EF4-FFF2-40B4-BE49-F238E27FC236}">
                <a16:creationId xmlns:a16="http://schemas.microsoft.com/office/drawing/2014/main" id="{3B107F00-DAE5-9EC9-7BEB-1F63C76E86C4}"/>
              </a:ext>
            </a:extLst>
          </p:cNvPr>
          <p:cNvSpPr/>
          <p:nvPr/>
        </p:nvSpPr>
        <p:spPr>
          <a:xfrm>
            <a:off x="7980424" y="5937089"/>
            <a:ext cx="793150" cy="212462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39" name="Rectangle: Rounded Corners 38">
            <a:hlinkClick r:id="rId14"/>
            <a:extLst>
              <a:ext uri="{FF2B5EF4-FFF2-40B4-BE49-F238E27FC236}">
                <a16:creationId xmlns:a16="http://schemas.microsoft.com/office/drawing/2014/main" id="{038DB863-4361-CC4F-2D8E-C53584C4901A}"/>
              </a:ext>
            </a:extLst>
          </p:cNvPr>
          <p:cNvSpPr/>
          <p:nvPr/>
        </p:nvSpPr>
        <p:spPr>
          <a:xfrm>
            <a:off x="9528236" y="5916189"/>
            <a:ext cx="793150" cy="212462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41" name="Rectangle: Rounded Corners 40">
            <a:hlinkClick r:id="rId15"/>
            <a:extLst>
              <a:ext uri="{FF2B5EF4-FFF2-40B4-BE49-F238E27FC236}">
                <a16:creationId xmlns:a16="http://schemas.microsoft.com/office/drawing/2014/main" id="{C151F7D4-5A5E-6B5D-B813-53E1A2E39E03}"/>
              </a:ext>
            </a:extLst>
          </p:cNvPr>
          <p:cNvSpPr/>
          <p:nvPr/>
        </p:nvSpPr>
        <p:spPr>
          <a:xfrm>
            <a:off x="11300523" y="5916189"/>
            <a:ext cx="793150" cy="212462"/>
          </a:xfrm>
          <a:prstGeom prst="roundRect">
            <a:avLst/>
          </a:prstGeom>
          <a:solidFill>
            <a:srgbClr val="CBE7FF"/>
          </a:solidFill>
          <a:ln>
            <a:solidFill>
              <a:srgbClr val="CCE6FD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C4E9B"/>
                </a:solidFill>
              </a:rPr>
              <a:t>Click Here</a:t>
            </a:r>
            <a:endParaRPr lang="en-IN" sz="1100" dirty="0">
              <a:solidFill>
                <a:srgbClr val="0C4E9B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14B827-D695-94C0-12F5-20C69568A626}"/>
              </a:ext>
            </a:extLst>
          </p:cNvPr>
          <p:cNvSpPr/>
          <p:nvPr/>
        </p:nvSpPr>
        <p:spPr>
          <a:xfrm>
            <a:off x="6388895" y="6184106"/>
            <a:ext cx="666750" cy="170763"/>
          </a:xfrm>
          <a:prstGeom prst="rect">
            <a:avLst/>
          </a:prstGeom>
          <a:solidFill>
            <a:srgbClr val="FDFDFC"/>
          </a:solidFill>
          <a:ln>
            <a:solidFill>
              <a:srgbClr val="FEFEFE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7824</TotalTime>
  <Words>147</Words>
  <Application>Microsoft Office PowerPoint</Application>
  <PresentationFormat>Widescreen</PresentationFormat>
  <Paragraphs>58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montserratregular</vt:lpstr>
      <vt:lpstr>Times New Roman</vt:lpstr>
      <vt:lpstr>TradeGothic</vt:lpstr>
      <vt:lpstr>Office Theme</vt:lpstr>
      <vt:lpstr>SMART INDIA HACKATHON 2026</vt:lpstr>
      <vt:lpstr> PROPOSED SOLUTION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Surbhi .</cp:lastModifiedBy>
  <cp:revision>165</cp:revision>
  <dcterms:created xsi:type="dcterms:W3CDTF">2013-12-12T18:46:50Z</dcterms:created>
  <dcterms:modified xsi:type="dcterms:W3CDTF">2026-09-10T12:40:42Z</dcterms:modified>
  <cp:category/>
</cp:coreProperties>
</file>