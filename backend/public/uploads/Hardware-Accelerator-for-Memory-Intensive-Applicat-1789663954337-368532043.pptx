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embeddedFontLst>
    <p:embeddedFont>
      <p:font typeface="Alice" panose="020B0604020202020204" charset="0"/>
      <p:regular r:id="rId14"/>
    </p:embeddedFont>
    <p:embeddedFont>
      <p:font typeface="Lora" pitchFamily="2" charset="0"/>
      <p:regular r:id="rId15"/>
      <p:bold r:id="rId16"/>
    </p:embeddedFont>
    <p:embeddedFont>
      <p:font typeface="Lora Bold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68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34417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860748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Review 1 — Introduction, Literature Review &amp; Problem Identification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2252266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2C2821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2445147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F0EDE6"/>
          </a:solidFill>
          <a:ln/>
        </p:spPr>
      </p:sp>
      <p:sp>
        <p:nvSpPr>
          <p:cNvPr id="7" name="Text 4"/>
          <p:cNvSpPr/>
          <p:nvPr/>
        </p:nvSpPr>
        <p:spPr>
          <a:xfrm>
            <a:off x="812680" y="2596356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Team Members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2680" y="2905125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Sanshey (5451), Ayush Bajetha (5414), Keshav Dangi (5424)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1475" y="3394968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F0EDE6"/>
          </a:solidFill>
          <a:ln/>
        </p:spPr>
      </p:sp>
      <p:sp>
        <p:nvSpPr>
          <p:cNvPr id="10" name="Text 7"/>
          <p:cNvSpPr/>
          <p:nvPr/>
        </p:nvSpPr>
        <p:spPr>
          <a:xfrm>
            <a:off x="812680" y="3546177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Guide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12680" y="3854946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Dr. Sushma Patil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1475" y="4344789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F0EDE6"/>
          </a:solidFill>
          <a:ln/>
        </p:spPr>
      </p:sp>
      <p:sp>
        <p:nvSpPr>
          <p:cNvPr id="13" name="Text 10"/>
          <p:cNvSpPr/>
          <p:nvPr/>
        </p:nvSpPr>
        <p:spPr>
          <a:xfrm>
            <a:off x="812680" y="4495998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Department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2680" y="4804767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Electronics &amp; Telecommunication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5294610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F0EDE6"/>
          </a:solidFill>
          <a:ln/>
        </p:spPr>
      </p:sp>
      <p:sp>
        <p:nvSpPr>
          <p:cNvPr id="16" name="Text 13"/>
          <p:cNvSpPr/>
          <p:nvPr/>
        </p:nvSpPr>
        <p:spPr>
          <a:xfrm>
            <a:off x="812680" y="5445820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Institution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12680" y="5754588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Army Institute of Technology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A29EF-C9A8-2894-DDB2-9E8B65E8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8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are Memory-Intensive Applications?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271812"/>
            <a:ext cx="522691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Memory-intensive applications spend a </a:t>
            </a:r>
            <a:r>
              <a:rPr lang="en-US" sz="13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significant portion of execution time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accessing or transferring data rather than performing computations. Performance depends on: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309659" y="3185220"/>
            <a:ext cx="5226911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Memory latency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time to retrieve a data unit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Memory bandwidth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rate of data transfer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Cache misses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cause processor stalls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Data movement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energy and time cost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Locality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spatial and temporal reuse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9659" y="4830068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Examples: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Image/video processing, databases, graph processing, scientific computing, AI workloads, large-scale data processing.</a:t>
            </a:r>
            <a:endParaRPr lang="en-US" sz="13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0DABCD-DF08-E0AA-690A-150BFDDBD4A4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DC0E9B20-D8CF-555A-5AF8-DA1A4BEF73D4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06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is a Hardware Accelerator?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64444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hardware accelerator is </a:t>
            </a:r>
            <a:r>
              <a:rPr lang="en-US" sz="11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specialized circuitry</a:t>
            </a: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that performs specific operations more efficiently than a general-purpose CPU — exploiting parallelism, pipelining, and dedicated data paths.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71873"/>
            <a:ext cx="4199924" cy="42000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640" y="2564705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Accelerator Examples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286640" y="2921893"/>
            <a:ext cx="5249930" cy="1777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DMA engines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Hardware prefetchers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Cache accelerators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compression units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Near-memory processing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Processing-in-memory (PIM)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FPGA/ASIC-based accelerators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86640" y="4835327"/>
            <a:ext cx="5249930" cy="728663"/>
          </a:xfrm>
          <a:prstGeom prst="roundRect">
            <a:avLst>
              <a:gd name="adj" fmla="val 3113"/>
            </a:avLst>
          </a:prstGeom>
          <a:solidFill>
            <a:srgbClr val="D7F4E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846" y="5020469"/>
            <a:ext cx="189007" cy="1512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78059" y="4981972"/>
            <a:ext cx="460730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accelerator targets the </a:t>
            </a:r>
            <a:r>
              <a:rPr lang="en-US" sz="115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memory bottleneck</a:t>
            </a:r>
            <a:r>
              <a:rPr lang="en-US" sz="11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not arithmetic computation.</a:t>
            </a:r>
            <a:endParaRPr lang="en-US" sz="11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DB6E8F-90C4-B064-E8D2-2B85F2FDCD6D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CB780E97-7F3E-ECD3-0D18-9B5BCBB10F1D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Do Processors Need Memory Acceleration?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188218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Memory Bottleneck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2300982"/>
            <a:ext cx="522691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Processor compute capability has grown dramatically, but </a:t>
            </a:r>
            <a:r>
              <a:rPr lang="en-US" sz="13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memory latency remains a major constraint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CPU cores stall waiting for data from memory.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9659" y="3214390"/>
            <a:ext cx="5226911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Cache misses increase effective memory access latency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Off-chip memory accesses consume significant time and energy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bandwidth becomes the limiting factor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and high-performance applications demand efficient memory access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659" y="5098752"/>
            <a:ext cx="5226911" cy="618927"/>
          </a:xfrm>
          <a:prstGeom prst="roundRect">
            <a:avLst>
              <a:gd name="adj" fmla="val 4123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715" y="5335984"/>
            <a:ext cx="212620" cy="1700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62392" y="5278934"/>
            <a:ext cx="511370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Memory Bottleneck = Performance Bottleneck</a:t>
            </a:r>
            <a:endParaRPr lang="en-US" sz="1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1B1E2-EA8D-1792-418F-BA3B3F8620EC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16FB4829-0BAD-C756-EB43-0847E02B4AB4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609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Hardware Acceleration?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07089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Traditional Processor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370138"/>
            <a:ext cx="5273047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CPU → Cache → DRAM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CPU repeatedly handles all memory-related operations, incurring high overhead and latency on every access.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3130649"/>
            <a:ext cx="5273047" cy="19050"/>
          </a:xfrm>
          <a:prstGeom prst="roundRect">
            <a:avLst>
              <a:gd name="adj" fmla="val 49999"/>
            </a:avLst>
          </a:prstGeom>
          <a:solidFill>
            <a:srgbClr val="2C2821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28691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Accelerated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586163"/>
            <a:ext cx="5273047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CPU → Memory Accelerator → Local Buffer / DRAM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Dedicated hardware manages data movement, prefetching, and buffering — freeing the CPU for computation.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523" y="1292622"/>
            <a:ext cx="5266697" cy="368587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475" y="5186859"/>
            <a:ext cx="5388039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10" name="Text 7"/>
          <p:cNvSpPr/>
          <p:nvPr/>
        </p:nvSpPr>
        <p:spPr>
          <a:xfrm>
            <a:off x="793730" y="5319117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Lower Latency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42082" y="5186859"/>
            <a:ext cx="5388138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6274338" y="5319117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Higher Bandwidth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5750620"/>
            <a:ext cx="5388039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30" y="5882878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Lower CPU Overhead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42082" y="5750620"/>
            <a:ext cx="5388138" cy="471190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</p:sp>
      <p:sp>
        <p:nvSpPr>
          <p:cNvPr id="16" name="Text 13"/>
          <p:cNvSpPr/>
          <p:nvPr/>
        </p:nvSpPr>
        <p:spPr>
          <a:xfrm>
            <a:off x="6274338" y="5882878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Better Energy Efficiency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35641A-91C3-C735-85EE-F03CD7CFEB92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6B8B790C-EC95-5867-C184-4F1E02242DC1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56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Memory Acceleration Maps to Processor Hardware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50" y="1158180"/>
            <a:ext cx="7064595" cy="33176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81813" y="3655590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CPU Core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30459" y="3904471"/>
            <a:ext cx="1901442" cy="1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Issue and consume data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607964" y="3114768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Cache Hierarchy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07964" y="3363649"/>
            <a:ext cx="1853217" cy="1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L1 and L2/L3 caching layers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081705" y="2558229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Memory Accelerator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30352" y="2807110"/>
            <a:ext cx="1901442" cy="255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Prefetch, DMA, buffer, compression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07964" y="2040012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Memory Controller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07964" y="2288894"/>
            <a:ext cx="1853217" cy="1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 DRAM transactions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081813" y="1588753"/>
            <a:ext cx="1550089" cy="19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DRAM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30459" y="1837635"/>
            <a:ext cx="1901442" cy="1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 memory storage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1475" y="456565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Conceptual architecture — not the final implementation.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1475" y="4817566"/>
            <a:ext cx="5394488" cy="673001"/>
          </a:xfrm>
          <a:prstGeom prst="roundRect">
            <a:avLst>
              <a:gd name="adj" fmla="val 2738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7004" y="4953099"/>
            <a:ext cx="51234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Prefetch Unit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7004" y="5192911"/>
            <a:ext cx="51234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Predicts and fetches data before it is requested, reducing effective latency.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35732" y="4817566"/>
            <a:ext cx="5394488" cy="673001"/>
          </a:xfrm>
          <a:prstGeom prst="roundRect">
            <a:avLst>
              <a:gd name="adj" fmla="val 2738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1262" y="4953099"/>
            <a:ext cx="51234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DMA Controller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71262" y="5192911"/>
            <a:ext cx="51234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Handles bulk data transfers with minimal CPU intervention.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1475" y="5570339"/>
            <a:ext cx="5394488" cy="673001"/>
          </a:xfrm>
          <a:prstGeom prst="roundRect">
            <a:avLst>
              <a:gd name="adj" fmla="val 2738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7004" y="5705872"/>
            <a:ext cx="51234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Local Buffer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7004" y="5945684"/>
            <a:ext cx="51234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On-chip scratchpad memory improves data reuse and reduces DRAM accesses.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35732" y="5570339"/>
            <a:ext cx="5394488" cy="673001"/>
          </a:xfrm>
          <a:prstGeom prst="roundRect">
            <a:avLst>
              <a:gd name="adj" fmla="val 2738"/>
            </a:avLst>
          </a:prstGeom>
          <a:solidFill>
            <a:srgbClr val="FCFBF8"/>
          </a:solidFill>
          <a:ln w="12700">
            <a:solidFill>
              <a:srgbClr val="D6D3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1262" y="5705872"/>
            <a:ext cx="51234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Compression Unit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71262" y="5945684"/>
            <a:ext cx="512342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Reduces memory traffic by compressing data before transfer.</a:t>
            </a:r>
            <a:endParaRPr lang="en-US" sz="9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8EED2-9804-BB3B-3FBB-44B3359FE8C4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5449B7BA-7F18-D13D-251C-B025DBE28E32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72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Literature Review</a:t>
            </a:r>
            <a:endParaRPr lang="en-US" sz="3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116862"/>
              </p:ext>
            </p:extLst>
          </p:nvPr>
        </p:nvGraphicFramePr>
        <p:xfrm>
          <a:off x="661475" y="1627177"/>
          <a:ext cx="10868746" cy="4363335"/>
        </p:xfrm>
        <a:graphic>
          <a:graphicData uri="http://schemas.openxmlformats.org/drawingml/2006/table">
            <a:tbl>
              <a:tblPr/>
              <a:tblGrid>
                <a:gridCol w="2514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3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4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Paper / Work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Year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Focus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Main Contribution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2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Hardware Prefetching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2015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Memory latency reduction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Predicts future memory accesses and fetches data in advance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2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DMA-Based Data Movement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2017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Efficient bulk data transfer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Transfers data with reduced CPU intervention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2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Processing-in-Memory / Near-Memory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2019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Reducing data movement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Moves computation closer to memory to reduce memory traffic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2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Memory Compression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2020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Bandwidth reduction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Reduces the amount of data transferred through memory hierarchy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2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Cache Optimization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2022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Cache utilization and locality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Improves temporal/spatial locality and reduces cache misses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Hardware Accelerators for Memory Workloads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2024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Specialized memory processing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C2821"/>
                          </a:solidFill>
                          <a:latin typeface="Lora" pitchFamily="34" charset="0"/>
                          <a:ea typeface="Lora" pitchFamily="34" charset="-122"/>
                          <a:cs typeface="Lora" pitchFamily="34" charset="-120"/>
                        </a:rPr>
                        <a:t>Uses dedicated hardware to improve throughput and energy efficiency</a:t>
                      </a:r>
                      <a:endParaRPr lang="en-US" sz="1250" dirty="0">
                        <a:latin typeface="Lora" charset="0"/>
                        <a:ea typeface="Lora" charset="0"/>
                        <a:cs typeface="Lora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EEA7517-063B-7789-3936-0779DE0F9E58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535C4A2-2B08-277B-F57F-E2994FB493BA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58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Existing Research Has Achieved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62881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742579"/>
            <a:ext cx="5349047" cy="2540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883073"/>
            <a:ext cx="534904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Prefetching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2265859"/>
            <a:ext cx="534904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IN" sz="1400" dirty="0">
                <a:latin typeface="Lora" pitchFamily="2" charset="0"/>
              </a:rPr>
              <a:t>Predicts future memory accesses and fetches required data in advance, reducing effective memory access latency and processor stalls.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81074" y="1462881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1074" y="1742579"/>
            <a:ext cx="5349146" cy="2540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6181074" y="1883073"/>
            <a:ext cx="534914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DMA &amp; Efficient Data Movement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181074" y="2265859"/>
            <a:ext cx="534914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dirty="0">
                <a:latin typeface="Lora" pitchFamily="2" charset="0"/>
              </a:rPr>
              <a:t>Enables bulk data transfers with minimal CPU intervention, reducing CPU overhead and improving data-transfer efficiency.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1475" y="3131245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1475" y="3410942"/>
            <a:ext cx="5349047" cy="2540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551436"/>
            <a:ext cx="534904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Cache &amp; Buffer Optimization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61475" y="3934222"/>
            <a:ext cx="534904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IN" sz="1400" dirty="0">
                <a:latin typeface="Lora" pitchFamily="2" charset="0"/>
              </a:rPr>
              <a:t>Improves temporal and spatial locality by storing frequently/recently used data closer to the processor, reducing repeated DRAM accesses.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81074" y="3131245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074" y="3410942"/>
            <a:ext cx="5349146" cy="2540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074" y="3551436"/>
            <a:ext cx="534914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Near-Memory &amp; PIM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181074" y="3934222"/>
            <a:ext cx="534914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IN" sz="1400" dirty="0">
                <a:latin typeface="Lora" pitchFamily="2" charset="0"/>
              </a:rPr>
              <a:t>Moves computation closer to memory, reducing the distance data must travel and consequently lowering data-movement overhead.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475" y="4799608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1475" y="5079305"/>
            <a:ext cx="5349047" cy="2540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5219799"/>
            <a:ext cx="534904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Memory Compression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61475" y="5602585"/>
            <a:ext cx="534904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dirty="0">
                <a:latin typeface="Lora" pitchFamily="2" charset="0"/>
              </a:rPr>
              <a:t>Compresses data before transfer, reducing memory traffic and bandwidth requirements.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81074" y="4799608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1074" y="5079305"/>
            <a:ext cx="5349146" cy="2540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074" y="5219799"/>
            <a:ext cx="534914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Parallel Memory Access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6181074" y="5602585"/>
            <a:ext cx="534914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IN" sz="1400" dirty="0">
                <a:latin typeface="Lora" pitchFamily="2" charset="0"/>
              </a:rPr>
              <a:t>Uses concurrent memory accesses and optimized data paths to improve effective memory bandwidth and overall memory-system performance.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96208B-B804-D843-8DC9-B1B2CC25FF6B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7ACEDA74-1691-3F18-C628-C53303E077D1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18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Limitations &amp; Current Challenges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56048"/>
            <a:ext cx="4452628" cy="4452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136654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Challenges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98149" y="1754088"/>
            <a:ext cx="5238421" cy="347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 latency remains significant even with caching and prefetching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Limited on-chip memory restricts local data storage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Aggressive prefetching may fetch unnecessary data, wasting bandwidth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Hardware accelerators increase design complexity and silicon area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Additional buffers and structures increase power consumption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Accelerator effectiveness depends on application memory-access patterns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Cache coherence is challenging in multi-core systems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Maintaining programmability and portability is difficult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Different workloads may require different accelerator architectures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98149" y="5379938"/>
            <a:ext cx="5238421" cy="801291"/>
          </a:xfrm>
          <a:prstGeom prst="roundRect">
            <a:avLst>
              <a:gd name="adj" fmla="val 3008"/>
            </a:avLst>
          </a:prstGeom>
          <a:solidFill>
            <a:srgbClr val="D7F4E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81" y="5587405"/>
            <a:ext cx="200814" cy="160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0225" y="5542855"/>
            <a:ext cx="455571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challenge is to improve memory performance </a:t>
            </a:r>
            <a:r>
              <a:rPr lang="en-US" sz="1250" b="1" dirty="0">
                <a:solidFill>
                  <a:srgbClr val="00000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without excessive hardware cost</a:t>
            </a: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A6FD6-A8E2-5493-F259-63DADAF6DBA7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B3E47CA4-CAFD-96E5-FBC1-09BE49F514D2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59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Research Gap &amp; 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1907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Research Gap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03363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Existing techniques — caching, prefetching, DMA, compression, and near-memory processing — can improve memory performance individually. However, achieving a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balanced solution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that simultaneously provides: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683099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Reduced memory access latency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Efficient memory bandwidth utilization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Reduced CPU overhead and data movement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 power consumption and reasonable hardware area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Scalability across different workloads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562957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…remains a practical challenge.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1630065"/>
            <a:ext cx="5476043" cy="4471987"/>
          </a:xfrm>
          <a:prstGeom prst="roundRect">
            <a:avLst>
              <a:gd name="adj" fmla="val 634"/>
            </a:avLst>
          </a:prstGeom>
          <a:solidFill>
            <a:srgbClr val="373B48"/>
          </a:solidFill>
          <a:ln/>
        </p:spPr>
      </p:sp>
      <p:sp>
        <p:nvSpPr>
          <p:cNvPr id="8" name="Text 6"/>
          <p:cNvSpPr/>
          <p:nvPr/>
        </p:nvSpPr>
        <p:spPr>
          <a:xfrm>
            <a:off x="6385658" y="181907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Problem Statement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69119" y="2497038"/>
            <a:ext cx="481456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"How can we design a hardware accelerator that efficiently handles memory-intensive operations in processors by reducing memory access latency and data movement while improving bandwidth utilization, </a:t>
            </a:r>
            <a:r>
              <a:rPr lang="en-US" sz="14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without excessive hardware area and power consumption</a:t>
            </a: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?"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85658" y="2326977"/>
            <a:ext cx="25399" cy="2154634"/>
          </a:xfrm>
          <a:prstGeom prst="roundRect">
            <a:avLst>
              <a:gd name="adj" fmla="val 50001"/>
            </a:avLst>
          </a:prstGeom>
          <a:solidFill>
            <a:srgbClr val="1B5F39"/>
          </a:solidFill>
          <a:ln/>
        </p:spPr>
      </p:sp>
      <p:sp>
        <p:nvSpPr>
          <p:cNvPr id="11" name="Shape 9"/>
          <p:cNvSpPr/>
          <p:nvPr/>
        </p:nvSpPr>
        <p:spPr>
          <a:xfrm>
            <a:off x="6385658" y="4741466"/>
            <a:ext cx="5098029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85658" y="5026720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Review 2</a:t>
            </a:r>
            <a:r>
              <a:rPr lang="en-US" sz="14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will propose the targeted approach, architecture options, and implementation plan.</a:t>
            </a:r>
            <a:endParaRPr lang="en-US" sz="14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718074-4775-D3B9-B2DC-503CFB787EDD}"/>
              </a:ext>
            </a:extLst>
          </p:cNvPr>
          <p:cNvSpPr/>
          <p:nvPr/>
        </p:nvSpPr>
        <p:spPr>
          <a:xfrm>
            <a:off x="10928784" y="6466114"/>
            <a:ext cx="1202871" cy="326571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5D961344-BC9D-7762-3EAF-2E1B70E5646E}"/>
              </a:ext>
            </a:extLst>
          </p:cNvPr>
          <p:cNvSpPr/>
          <p:nvPr/>
        </p:nvSpPr>
        <p:spPr>
          <a:xfrm>
            <a:off x="4083434" y="6622043"/>
            <a:ext cx="4024825" cy="17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Accelerator for Memory-Intensive Applications in Processors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948</Words>
  <Application>Microsoft Office PowerPoint</Application>
  <PresentationFormat>Widescreen</PresentationFormat>
  <Paragraphs>159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Lora Bold</vt:lpstr>
      <vt:lpstr>Alice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Surbhi .</cp:lastModifiedBy>
  <cp:revision>5</cp:revision>
  <dcterms:created xsi:type="dcterms:W3CDTF">2026-09-02T17:41:26Z</dcterms:created>
  <dcterms:modified xsi:type="dcterms:W3CDTF">2026-09-16T18:55:41Z</dcterms:modified>
</cp:coreProperties>
</file>