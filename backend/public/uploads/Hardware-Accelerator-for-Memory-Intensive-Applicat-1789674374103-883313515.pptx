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9" r:id="rId3"/>
    <p:sldId id="266" r:id="rId4"/>
    <p:sldId id="278" r:id="rId5"/>
    <p:sldId id="277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12192000"/>
  <p:embeddedFontLst>
    <p:embeddedFont>
      <p:font typeface="Alice" panose="020B0604020202020204" charset="0"/>
      <p:regular r:id="rId16"/>
    </p:embeddedFont>
    <p:embeddedFont>
      <p:font typeface="Gelasio" panose="020B0604020202020204" charset="0"/>
      <p:regular r:id="rId17"/>
    </p:embeddedFont>
    <p:embeddedFont>
      <p:font typeface="Lato" panose="020F0502020204030203" pitchFamily="34" charset="0"/>
      <p:regular r:id="rId18"/>
      <p:bold r:id="rId19"/>
    </p:embeddedFont>
    <p:embeddedFont>
      <p:font typeface="Lora" pitchFamily="2" charset="0"/>
      <p:regular r:id="rId20"/>
      <p:bold r:id="rId21"/>
      <p:italic r:id="rId22"/>
      <p:boldItalic r:id="rId23"/>
    </p:embeddedFont>
    <p:embeddedFont>
      <p:font typeface="Lora Bold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29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9980"/>
            <a:ext cx="6139205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432645"/>
            <a:ext cx="67487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2 — Proposed Solution, Architecture &amp; Implementation Plan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23964"/>
            <a:ext cx="6139205" cy="9846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54" y="3003649"/>
            <a:ext cx="57036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7354" y="3391198"/>
            <a:ext cx="570364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Sanshey (5451), Ayush Bajetha (5414), Keshav Dangi (5424)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45136"/>
            <a:ext cx="6139205" cy="9846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7354" y="4124821"/>
            <a:ext cx="57036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Guide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17354" y="4512370"/>
            <a:ext cx="570364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Dr. Sushma Patil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66308"/>
            <a:ext cx="6139205" cy="9846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354" y="5245993"/>
            <a:ext cx="57036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Department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7354" y="5633541"/>
            <a:ext cx="570364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Electronics and Telecommunications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934" y="807045"/>
            <a:ext cx="3686877" cy="36869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572A7A2-10C3-3222-59C7-1BA70A4163F3}"/>
              </a:ext>
            </a:extLst>
          </p:cNvPr>
          <p:cNvSpPr/>
          <p:nvPr/>
        </p:nvSpPr>
        <p:spPr>
          <a:xfrm>
            <a:off x="11038114" y="6498771"/>
            <a:ext cx="1077686" cy="302079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09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Table of Contents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9585"/>
            <a:ext cx="10868745" cy="3987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Memory Bottleneck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GPU vs TPU vs FPGA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Choose FPGA?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Proposed Solution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Components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Software Components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8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of the System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9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CPU-Only vs. Accelerator-Based Implementation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10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 &amp; Future Scope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11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305B5-E085-8655-3296-244BCAC36161}"/>
              </a:ext>
            </a:extLst>
          </p:cNvPr>
          <p:cNvSpPr/>
          <p:nvPr/>
        </p:nvSpPr>
        <p:spPr>
          <a:xfrm>
            <a:off x="11038114" y="6498771"/>
            <a:ext cx="1077686" cy="302079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04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Problem Statement: The Memory Bottleneck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54845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 conventional processors, the CPU is significantly faster than main memory. As datasets grow, frequent memory access causes stalls, repeated data movement, and increased CPU workload — limiting overall system performance.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281" y="2144216"/>
            <a:ext cx="9351034" cy="36659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150" y="2324001"/>
            <a:ext cx="1711787" cy="55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CPU sends Read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835489" y="2324001"/>
            <a:ext cx="1711787" cy="55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Memory returns 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35489" y="5080047"/>
            <a:ext cx="1711787" cy="55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CPU processes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4150" y="5080047"/>
            <a:ext cx="1711787" cy="55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CPU writes Result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98239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repeated Read → Process → Write cycle is the core inefficiency our accelerator aims to address.</a:t>
            </a: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B090A2-8D63-A217-55F2-508CB378191A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B3DEF-C389-D299-E7A3-75BB6F4CE6C9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4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GPU vs TPU vs FPGA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3579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three can be used as hardware accelerators, but they are optimized for different types of workloads.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89509"/>
            <a:ext cx="3542219" cy="4346972"/>
          </a:xfrm>
          <a:prstGeom prst="roundRect">
            <a:avLst>
              <a:gd name="adj" fmla="val 640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812680" y="1940719"/>
            <a:ext cx="3239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GPU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12680" y="2249487"/>
            <a:ext cx="3239808" cy="152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Primary purpose: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graphics and parallel compute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Best for: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flexible high-throughput workloads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Key strength: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very high parallelism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Suitable for your project: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good if flexibility and throughput matter most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779" y="3909219"/>
            <a:ext cx="1669611" cy="16696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24639" y="1789509"/>
            <a:ext cx="3542318" cy="4346972"/>
          </a:xfrm>
          <a:prstGeom prst="roundRect">
            <a:avLst>
              <a:gd name="adj" fmla="val 640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4475844" y="1940719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TPU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75844" y="2249487"/>
            <a:ext cx="3239907" cy="1741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Primary purpose: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machine learning and tensor operations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Best for: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training and inference of deep learning models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Key strength: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optimized for ML dataflows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Suitable for your project: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good if the workload is mostly neural-network focused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228" y="4126905"/>
            <a:ext cx="1995140" cy="15046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87902" y="1789509"/>
            <a:ext cx="3542318" cy="4346972"/>
          </a:xfrm>
          <a:prstGeom prst="roundRect">
            <a:avLst>
              <a:gd name="adj" fmla="val 640"/>
            </a:avLst>
          </a:prstGeom>
          <a:solidFill>
            <a:srgbClr val="F0EDE6"/>
          </a:solidFill>
          <a:ln/>
        </p:spPr>
      </p:sp>
      <p:sp>
        <p:nvSpPr>
          <p:cNvPr id="13" name="Text 9"/>
          <p:cNvSpPr/>
          <p:nvPr/>
        </p:nvSpPr>
        <p:spPr>
          <a:xfrm>
            <a:off x="8139107" y="1940719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FPGA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139107" y="2249487"/>
            <a:ext cx="3239907" cy="2394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Primary purpose: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custom digital circuits and specialized acceleration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Best for: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low-latency, deterministic custom hardware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Key strength: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reconfigurable and hardware-tailored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Suitable for your project: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best fit for memory-intensive operations with low latency, reduced data movement, and controlled power/area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544" y="4779963"/>
            <a:ext cx="1097034" cy="109706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0F598C1-F2F5-034F-0EFF-714B042C42EF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95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Choose FPGA?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536402"/>
            <a:ext cx="1941067" cy="2979440"/>
          </a:xfrm>
          <a:prstGeom prst="roundRect">
            <a:avLst>
              <a:gd name="adj" fmla="val 1315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31532" y="1706463"/>
            <a:ext cx="160095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 Memory Architecture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31532" y="2390973"/>
            <a:ext cx="1600954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scratchpad, DMA engine, and data paths.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memory stalls.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55633" y="1536402"/>
            <a:ext cx="1941166" cy="2979440"/>
          </a:xfrm>
          <a:prstGeom prst="roundRect">
            <a:avLst>
              <a:gd name="adj" fmla="val 1315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2925689" y="1706463"/>
            <a:ext cx="1601053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Parallelism &amp; Predictable Timing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925689" y="2656681"/>
            <a:ext cx="1601053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 pipelines for concurrent processing.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Controlled latency and throughput measurement.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9890" y="1536402"/>
            <a:ext cx="2130574" cy="2979440"/>
          </a:xfrm>
          <a:prstGeom prst="roundRect">
            <a:avLst>
              <a:gd name="adj" fmla="val 1315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5019946" y="1706463"/>
            <a:ext cx="188704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Reprogrammability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019946" y="2390973"/>
            <a:ext cx="1601053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Modify buffer size and processing units.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Flexible for iterative development.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668937"/>
            <a:ext cx="6318989" cy="1413768"/>
          </a:xfrm>
          <a:prstGeom prst="roundRect">
            <a:avLst>
              <a:gd name="adj" fmla="val 1805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831532" y="4838998"/>
            <a:ext cx="578946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Platform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1532" y="5257800"/>
            <a:ext cx="5789468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Compare different architectures.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Measure actual performance metrics.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20" y="1536402"/>
            <a:ext cx="3891659" cy="389175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EB90ED-BA1B-9B98-1F24-2021D03D9A23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55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Proposed Solution: Hardware-Software Co-Design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1468438"/>
            <a:ext cx="5548372" cy="3144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2226" y="2605088"/>
            <a:ext cx="3564245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solution partitions the workload: the </a:t>
            </a:r>
            <a:r>
              <a:rPr lang="en-US" sz="11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RISC-V CPU</a:t>
            </a: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handles application logic and control, while a </a:t>
            </a:r>
            <a:r>
              <a:rPr lang="en-US" sz="11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custom hardware accelerator</a:t>
            </a: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executes selected memory-intensive operations.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27" y="4889252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893" y="4884638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CPU retains control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152893" y="5193407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Manages application flow and configures the accelerator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103" y="4889252"/>
            <a:ext cx="226808" cy="2268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62868" y="4884638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Accelerator handles computation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662868" y="5193407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Offloads repetitive, memory-heavy operations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27" y="5657602"/>
            <a:ext cx="226808" cy="2268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2893" y="5652988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Local BRAM buffer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152893" y="5961757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Reduces repeated main memory accesses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103" y="5657602"/>
            <a:ext cx="22680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62868" y="5652988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Memory-mapped interface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662868" y="5961757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 register-based communication between CPU and accelerator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06F12-125D-9D3A-0370-6E0A1992343F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9D69B-1C51-C6E4-C43A-E32B9AE53E30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620963"/>
            <a:ext cx="5226911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architecture follows a clean pipeline: the C application runs on the RISC-V processor, which communicates with the hardware accelerator through a </a:t>
            </a:r>
            <a:r>
              <a:rPr lang="en-US" sz="130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memory-mapped interface</a:t>
            </a:r>
            <a:r>
              <a:rPr lang="en-US" sz="130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. The accelerator fetches data from main memory, processes it locally, and writes results back.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4086027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E2E4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323259"/>
            <a:ext cx="212620" cy="170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4266208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flow: Application → RISC-V CPU → Memory-Mapped Interface → Hardware Accelerator → Main Memory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659" y="1457424"/>
            <a:ext cx="4704141" cy="47042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C06E31-0640-B65B-B731-B4C59627BC6C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1C3EE-AE4F-F302-4195-4D1A1A9D49A4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134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Hardware Components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3616"/>
            <a:ext cx="10868745" cy="781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0064" y="1422202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91101" y="1302841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Control Unit (FSM)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91101" y="1560116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Manages accelerator states — IDLE, LOAD, COMPUTE, STORE, DONE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24757"/>
            <a:ext cx="10868745" cy="7814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0064" y="2293342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91101" y="2173982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Address Generator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91101" y="2431256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Automatically generates sequential memory read/write addresses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95898"/>
            <a:ext cx="10868745" cy="7814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0064" y="316448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91101" y="3045123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Local BRAM Buffer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91101" y="3302397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On-chip memory storing frequently reused data to reduce latency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67038"/>
            <a:ext cx="10868745" cy="7814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0064" y="403562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91101" y="3916263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MAC / Processing Element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91101" y="4173538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Performs multiply-accumulate operations for matrix/vector workloads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38179"/>
            <a:ext cx="10868745" cy="7814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0064" y="4906764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91101" y="4787404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Memory Interface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91101" y="5044678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Manages data transfer between accelerator and main memory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09320"/>
            <a:ext cx="10868745" cy="7814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0064" y="5777905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291101" y="5658545"/>
            <a:ext cx="1008989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Status / Control Registers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91101" y="5915819"/>
            <a:ext cx="10089898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Memory-mapped registers allowing CPU to configure and monitor accelerator</a:t>
            </a:r>
            <a:endParaRPr lang="en-US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0B6CC0-BA83-F932-BC73-F3075E02E61E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B0069C-C676-922E-A5BF-9073890615FF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042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Software Components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17" y="1234480"/>
            <a:ext cx="5209152" cy="29518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3672" y="2225179"/>
            <a:ext cx="3582799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software stack runs on the RISC-V processor and provides a clean interface to the hardware accelerator. A </a:t>
            </a:r>
            <a:r>
              <a:rPr lang="en-US" sz="10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C/C++ application</a:t>
            </a:r>
            <a:r>
              <a:rPr lang="en-US" sz="10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serves as the primary workload, with matrix multiplication or vector processing as the demonstration kernel.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441811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1475" y="4636195"/>
            <a:ext cx="538287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744045"/>
            <a:ext cx="538287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 Application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5023842"/>
            <a:ext cx="538287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 program and CPU reference implementation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7341" y="441811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47341" y="4636195"/>
            <a:ext cx="538287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1" name="Text 8"/>
          <p:cNvSpPr/>
          <p:nvPr/>
        </p:nvSpPr>
        <p:spPr>
          <a:xfrm>
            <a:off x="6147341" y="4744045"/>
            <a:ext cx="538287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Accelerator Driver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47341" y="5023842"/>
            <a:ext cx="538287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Configures registers, triggers operations, polls 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1475" y="542548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5643563"/>
            <a:ext cx="538287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5751413"/>
            <a:ext cx="538287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Memory-Mapped Register Control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1475" y="6031210"/>
            <a:ext cx="538287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Writes input address, size, and operation code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47341" y="542548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47341" y="5643563"/>
            <a:ext cx="538287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9" name="Text 16"/>
          <p:cNvSpPr/>
          <p:nvPr/>
        </p:nvSpPr>
        <p:spPr>
          <a:xfrm>
            <a:off x="6147341" y="5751413"/>
            <a:ext cx="538287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Benchmark &amp; Verification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47341" y="6031210"/>
            <a:ext cx="538287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Compares accelerator output against CPU reference</a:t>
            </a:r>
            <a:endParaRPr lang="en-US" sz="10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2632B5-1FD6-E6F0-675F-A37EEE94D80F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9B9368-1C20-E091-C3D8-9ADFCC6409E1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26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Working of the System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5905"/>
            <a:ext cx="11086932" cy="4585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10759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CPU initiates the operation by writing to control registers. The accelerator then autonomously manages data movement and computation, signalling completion via a DONE flag — allowing the CPU to continue other tasks during processing.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922AF-FD92-0E56-A8CA-F54605184EC7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9035B-3B36-EC51-EE28-F2C752945C62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61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CPU-Only vs. Accelerator-Based Implementation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87791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Expected qualitative differences between the two approaches. </a:t>
            </a:r>
            <a:r>
              <a:rPr lang="en-US" sz="140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Actual values will be measured during FPGA testing.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61475" y="2349897"/>
          <a:ext cx="10868745" cy="3519697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0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Parameter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CPU-Only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Accelerator-Based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CPU Workload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Higher — handles all computation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Reduced — offloads intensive ops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Memory Management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Frequent, software-controlled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Hardware-managed, automated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Execution Cycles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Higher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Expected lower (to be measured)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Execution Time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Higher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Expected reduced (to be measured)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Throughput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Lower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Expected improved (to be measured)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Hardware Resources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Minimal — CPU only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Additional FPGA logic + BRAM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B047EA8-71C2-B2E4-84B5-BD87C50564B7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334B6-ABC9-20B3-4104-7C604E775E59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79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"/>
                <a:ea typeface="Mona Sans SemiBold" pitchFamily="34" charset="-122"/>
                <a:cs typeface="Mona Sans SemiBold" pitchFamily="34" charset="-120"/>
              </a:rPr>
              <a:t>Implementation &amp; Future Scope</a:t>
            </a:r>
            <a:endParaRPr lang="en-US" sz="3700" dirty="0">
              <a:latin typeface="Mona Sans 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5350" y="1852116"/>
            <a:ext cx="5476043" cy="4027884"/>
          </a:xfrm>
          <a:prstGeom prst="roundRect">
            <a:avLst>
              <a:gd name="adj" fmla="val 3379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04112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rial" panose="020B0604020202020204" pitchFamily="34" charset="0"/>
                <a:ea typeface="Mona Sans SemiBold" pitchFamily="34" charset="-122"/>
                <a:cs typeface="Arial" panose="020B0604020202020204" pitchFamily="34" charset="0"/>
              </a:rPr>
              <a:t>Current Implementation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4357" y="2525415"/>
            <a:ext cx="5098029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Verilog / SystemVerilog</a:t>
            </a: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for accelerator RTL design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C language</a:t>
            </a: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for software and driver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RISC-V processor</a:t>
            </a: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as host CPU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FPGA</a:t>
            </a: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target for synthesis and testing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BRAM</a:t>
            </a: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for on-chip local buffering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Simulation and synthesis using standard FPGA EDA tools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32776" y="20411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Arial" panose="020B0604020202020204" pitchFamily="34" charset="0"/>
                <a:ea typeface="Mona Sans SemiBold" pitchFamily="34" charset="-122"/>
                <a:cs typeface="Arial" panose="020B0604020202020204" pitchFamily="34" charset="0"/>
              </a:rPr>
              <a:t>Future Scope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32776" y="2525415"/>
            <a:ext cx="5203794" cy="328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DMA Support</a:t>
            </a:r>
            <a:r>
              <a:rPr lang="en-US" sz="14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— enable direct memory access without CPU intervention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Multiple Processing Elements</a:t>
            </a:r>
            <a:r>
              <a:rPr lang="en-US" sz="14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— parallelise computation further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Cache Integration</a:t>
            </a:r>
            <a:r>
              <a:rPr lang="en-US" sz="14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— reduce memory latency for irregular access patterns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Hardware Prefetching</a:t>
            </a:r>
            <a:r>
              <a:rPr lang="en-US" sz="14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— anticipate and fetch data before it is needed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Extended Workloads</a:t>
            </a:r>
            <a:r>
              <a:rPr lang="en-US" sz="1450" dirty="0">
                <a:solidFill>
                  <a:srgbClr val="52586B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— support convolution, FFT, and other memory-intensive kernels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8B072-1EBF-E6A6-06A1-B606DF90A41F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6A123-5A14-8DDA-3C69-5847C39C721B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07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31714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6617" y="1380430"/>
            <a:ext cx="10443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Memory access is a key bottleneck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86617" y="1665585"/>
            <a:ext cx="104436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Large-data applications suffer from repeated CPU-memory transfers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2076648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617" y="2125365"/>
            <a:ext cx="10443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Dedicated hardware offloads the CPU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86617" y="2410520"/>
            <a:ext cx="104436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Selected operations are handled by a custom accelerator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282158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617" y="2870299"/>
            <a:ext cx="10443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Local BRAM and address generation improve efficiency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86617" y="3155454"/>
            <a:ext cx="104436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On-chip buffering reduces main memory traffic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56651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6617" y="3615234"/>
            <a:ext cx="10443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Software controls hardware via memory-mapped registers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86617" y="3900388"/>
            <a:ext cx="104436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Clean, low-overhead CPU–accelerator interface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4311452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6617" y="4360168"/>
            <a:ext cx="10443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Performance to be evaluated experimentally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6617" y="4645323"/>
            <a:ext cx="104436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CPU-only and accelerator results will be compared on FPGA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1475" y="499874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212655"/>
            <a:ext cx="10868745" cy="61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936473-1B49-1822-374B-A057C068897A}"/>
              </a:ext>
            </a:extLst>
          </p:cNvPr>
          <p:cNvSpPr/>
          <p:nvPr/>
        </p:nvSpPr>
        <p:spPr>
          <a:xfrm>
            <a:off x="11046279" y="6564086"/>
            <a:ext cx="1093526" cy="241627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D08D3-0323-57D1-C46A-AFE604A4C89C}"/>
              </a:ext>
            </a:extLst>
          </p:cNvPr>
          <p:cNvSpPr txBox="1"/>
          <p:nvPr/>
        </p:nvSpPr>
        <p:spPr>
          <a:xfrm>
            <a:off x="4072076" y="6570712"/>
            <a:ext cx="4047444" cy="23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1019</Words>
  <Application>Microsoft Office PowerPoint</Application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Funnel Sans</vt:lpstr>
      <vt:lpstr>Gelasio</vt:lpstr>
      <vt:lpstr>Funnel Sans Bold</vt:lpstr>
      <vt:lpstr>Lato</vt:lpstr>
      <vt:lpstr>Lora Bold</vt:lpstr>
      <vt:lpstr>Mona Sans Light</vt:lpstr>
      <vt:lpstr>Mona Sans </vt:lpstr>
      <vt:lpstr>Mona Sans SemiBold</vt:lpstr>
      <vt:lpstr>Alice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Surbhi .</cp:lastModifiedBy>
  <cp:revision>8</cp:revision>
  <dcterms:created xsi:type="dcterms:W3CDTF">2026-09-02T18:08:25Z</dcterms:created>
  <dcterms:modified xsi:type="dcterms:W3CDTF">2026-09-16T19:35:42Z</dcterms:modified>
</cp:coreProperties>
</file>